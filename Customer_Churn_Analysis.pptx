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dadf160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adadf160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adadf160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28035" y="1175605"/>
            <a:ext cx="10515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Customer Churn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28035" y="220690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CDD6"/>
                </a:solidFill>
                <a:latin typeface="Calibri"/>
                <a:ea typeface="Calibri"/>
                <a:cs typeface="Calibri"/>
                <a:sym typeface="Calibri"/>
              </a:rPr>
              <a:t>Retention metrics, </a:t>
            </a:r>
            <a:r>
              <a:rPr lang="en-US" sz="1800">
                <a:solidFill>
                  <a:srgbClr val="C9CDD6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r>
              <a:rPr b="0" i="0" lang="en-US" sz="1800" u="none" cap="none" strike="noStrike">
                <a:solidFill>
                  <a:srgbClr val="C9CDD6"/>
                </a:solidFill>
                <a:latin typeface="Calibri"/>
                <a:ea typeface="Calibri"/>
                <a:cs typeface="Calibri"/>
                <a:sym typeface="Calibri"/>
              </a:rPr>
              <a:t> and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8F99"/>
                </a:solidFill>
                <a:latin typeface="Calibri"/>
                <a:ea typeface="Calibri"/>
                <a:cs typeface="Calibri"/>
                <a:sym typeface="Calibri"/>
              </a:rPr>
              <a:t>Data source: customer_churn_sample.csv  •  15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50" y="2940700"/>
            <a:ext cx="100584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Name: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Tanisha Rawat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Internship Organization: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Workora Labs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6"/>
              </a:buClr>
              <a:buSzPts val="18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Churn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6"/>
              </a:buClr>
              <a:buSzPts val="1800"/>
              <a:buFont typeface="Calibri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1371600"/>
            <a:ext cx="73152" cy="105156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914400" y="13258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Contract type is the strongest churn signal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14400" y="17373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Every Month-to-Month customer in the sample churned; annual and two-year contract holders did not churn at 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2606040"/>
            <a:ext cx="73152" cy="1051560"/>
          </a:xfrm>
          <a:prstGeom prst="rect">
            <a:avLst/>
          </a:prstGeom>
          <a:solidFill>
            <a:srgbClr val="C65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14400" y="2560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Support friction precedes churn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14400" y="2971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Churned customers logged 4.3 support tickets on average vs. 1.0 for retained customers (r = 0.88).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14400" y="37947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Risk concentrates in the first year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14400" y="4206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100% churn among customers under 12 months tenure, dropping to 0% past 25 months.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5074920"/>
            <a:ext cx="73152" cy="1051560"/>
          </a:xfrm>
          <a:prstGeom prst="rect">
            <a:avLst/>
          </a:prstGeom>
          <a:solidFill>
            <a:srgbClr val="3E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Payment method tracks with churn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14400" y="5440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Debit Card and UPI customers churn far more than Credit Card or Bank Transfer customers — likely a proxy for segment, not a cause.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Baseline Retention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0080" y="1737360"/>
            <a:ext cx="2606040" cy="2286000"/>
          </a:xfrm>
          <a:prstGeom prst="roundRect">
            <a:avLst>
              <a:gd fmla="val 48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68680" y="1965960"/>
            <a:ext cx="457200" cy="73152"/>
          </a:xfrm>
          <a:prstGeom prst="rect">
            <a:avLst/>
          </a:prstGeom>
          <a:solidFill>
            <a:srgbClr val="C65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22960" y="21945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46.67%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22960" y="30175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22960" y="33832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7 of 15 customers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429000" y="1737360"/>
            <a:ext cx="2606040" cy="2286000"/>
          </a:xfrm>
          <a:prstGeom prst="roundRect">
            <a:avLst>
              <a:gd fmla="val 48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657600" y="1965960"/>
            <a:ext cx="457200" cy="73152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11880" y="21945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53.33%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11880" y="30175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Retention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11880" y="33832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8 of 15 customers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217920" y="1737360"/>
            <a:ext cx="2606040" cy="2286000"/>
          </a:xfrm>
          <a:prstGeom prst="roundRect">
            <a:avLst>
              <a:gd fmla="val 48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46520" y="1965960"/>
            <a:ext cx="457200" cy="73152"/>
          </a:xfrm>
          <a:prstGeom prst="rect">
            <a:avLst/>
          </a:prstGeom>
          <a:solidFill>
            <a:srgbClr val="3E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00800" y="21945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2,088.48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0" y="30175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Avg. CLV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0" y="33832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MonthlyCharges × Tenure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006840" y="1737360"/>
            <a:ext cx="2606040" cy="2286000"/>
          </a:xfrm>
          <a:prstGeom prst="roundRect">
            <a:avLst>
              <a:gd fmla="val 48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235440" y="1965960"/>
            <a:ext cx="457200" cy="73152"/>
          </a:xfrm>
          <a:prstGeom prst="rect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189720" y="21945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409.93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89720" y="30175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MRR Lost to Churn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640080" y="45720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Churn Rate by Contract Type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589520" y="1463040"/>
            <a:ext cx="3931800" cy="4572000"/>
          </a:xfrm>
          <a:prstGeom prst="roundRect">
            <a:avLst>
              <a:gd fmla="val 2791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7863840" y="169164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863840" y="2103120"/>
            <a:ext cx="3383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100% of Month-to-Month customers in this sample churned. Zero customers on One Year or Two Year contracts churned.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This is the single clearest lever available: moving customers off month-to-month plans should be the top retention priority.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521440" y="653796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0" y="1340612"/>
            <a:ext cx="6503900" cy="51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557005" y="45720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Churn Rate by Tenure Group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7589520" y="1463040"/>
            <a:ext cx="3931920" cy="4572000"/>
          </a:xfrm>
          <a:prstGeom prst="roundRect">
            <a:avLst>
              <a:gd fmla="val 2791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7863840" y="1691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863840" y="2103120"/>
            <a:ext cx="33832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Churn risk is heavily front-loaded: customers under 12 months tenure churn at 100% in this sample, falling sharply after month 12.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A structured onboarding and early check-in program for the first year could directly target this window.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86150"/>
            <a:ext cx="6522796" cy="472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Churn Rate by Payment Method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7589520" y="1463040"/>
            <a:ext cx="3931920" cy="4572000"/>
          </a:xfrm>
          <a:prstGeom prst="roundRect">
            <a:avLst>
              <a:gd fmla="val 2791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7863840" y="1691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7863840" y="2103120"/>
            <a:ext cx="33832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Debit Card and UPI users churn far more than Bank Transfer or Credit Card users.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This is likely correlation, not causation — these payment methods may simply be more common among younger, shorter-tenure, or more price-sensitive customers. Worth segmenting further before acting on it directly.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575" y="1104911"/>
            <a:ext cx="6636495" cy="52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Support Tickets by Churn Status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7132320" y="1463040"/>
            <a:ext cx="4389120" cy="4572000"/>
          </a:xfrm>
          <a:prstGeom prst="roundRect">
            <a:avLst>
              <a:gd fmla="val 25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406640" y="2103120"/>
            <a:ext cx="3840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Churned customers averaged 4.3 support tickets vs. 1.0 for retained customers.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Support ticket volume correlates strongly with churn (r = 0.88) — among the strongest relationships in the dataset.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Proactive outreach after a customer's 2nd support ticket could be an early intervention point.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463051"/>
            <a:ext cx="6004350" cy="46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Correlation Heatmap: Churn Drivers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7680960" y="1463040"/>
            <a:ext cx="3840480" cy="4572000"/>
          </a:xfrm>
          <a:prstGeom prst="roundRect">
            <a:avLst>
              <a:gd fmla="val 285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7955280" y="1691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Reading the 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955280" y="2103120"/>
            <a:ext cx="3291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Support Tickets ↔ Churn: +0.88 (strongest driver)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Tenure ↔ Churn: -0.80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Age ↔ Churn: -0.73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Monthly Charges ↔ Churn: -0.59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Negative tenure/age correlations confirm that newer, younger accounts are highest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00" y="1249680"/>
            <a:ext cx="6667940" cy="513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/>
          <p:nvPr/>
        </p:nvSpPr>
        <p:spPr>
          <a:xfrm>
            <a:off x="640080" y="45720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🎯 Key findings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640080" y="1463040"/>
            <a:ext cx="5349300" cy="210300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914400" y="1737360"/>
            <a:ext cx="502800" cy="502800"/>
          </a:xfrm>
          <a:prstGeom prst="ellipse">
            <a:avLst/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914400" y="1737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1600200" y="1719072"/>
            <a:ext cx="416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High sample churn</a:t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914400" y="2377440"/>
            <a:ext cx="480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</a:rPr>
              <a:t>46.67%</a:t>
            </a:r>
            <a:r>
              <a:rPr lang="en-US" sz="1300">
                <a:solidFill>
                  <a:schemeClr val="dk1"/>
                </a:solidFill>
              </a:rPr>
              <a:t> of the customers in the sample have churned.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6263640" y="1463040"/>
            <a:ext cx="5349300" cy="210300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6537960" y="1737360"/>
            <a:ext cx="502800" cy="502800"/>
          </a:xfrm>
          <a:prstGeom prst="ellipse">
            <a:avLst/>
          </a:prstGeom>
          <a:solidFill>
            <a:srgbClr val="C65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6537960" y="1737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7223760" y="1719072"/>
            <a:ext cx="416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Contract type</a:t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537960" y="2377440"/>
            <a:ext cx="480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</a:rPr>
              <a:t>Month-to-month customers show </a:t>
            </a:r>
            <a:r>
              <a:rPr b="1" lang="en-US" sz="1100">
                <a:solidFill>
                  <a:schemeClr val="dk1"/>
                </a:solidFill>
              </a:rPr>
              <a:t>100% churn in this sample</a:t>
            </a:r>
            <a:r>
              <a:rPr lang="en-US" sz="1200">
                <a:solidFill>
                  <a:schemeClr val="dk1"/>
                </a:solidFill>
              </a:rPr>
              <a:t>, while one-year and two-year customers show 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40080" y="3840480"/>
            <a:ext cx="5349300" cy="210300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914400" y="4114800"/>
            <a:ext cx="502800" cy="502800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914400" y="41148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1600200" y="4096512"/>
            <a:ext cx="416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Tenure</a:t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914400" y="4754880"/>
            <a:ext cx="480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chemeClr val="dk1"/>
                </a:solidFill>
              </a:rPr>
              <a:t>Build structured check-ins across months 1–12, where churn risk is highest.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6263640" y="3840480"/>
            <a:ext cx="5349300" cy="210300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6537960" y="4114800"/>
            <a:ext cx="502800" cy="502800"/>
          </a:xfrm>
          <a:prstGeom prst="ellipse">
            <a:avLst/>
          </a:prstGeom>
          <a:solidFill>
            <a:srgbClr val="3E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6537960" y="41148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7223760" y="4096512"/>
            <a:ext cx="416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Payment method</a:t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6537960" y="4754880"/>
            <a:ext cx="480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</a:rPr>
              <a:t>UPI and Debit Card customers show higher churn percentages than Credit Card and Bank Transfer</a:t>
            </a:r>
            <a:r>
              <a:rPr lang="en-US" sz="1200">
                <a:solidFill>
                  <a:srgbClr val="FFFFFF"/>
                </a:solidFill>
              </a:rPr>
              <a:t> customers </a:t>
            </a:r>
            <a:r>
              <a:rPr b="1" lang="en-US" sz="1100">
                <a:solidFill>
                  <a:srgbClr val="FFFFFF"/>
                </a:solidFill>
              </a:rPr>
              <a:t>in this sample</a:t>
            </a:r>
            <a:r>
              <a:rPr lang="en-US" sz="1200">
                <a:solidFill>
                  <a:srgbClr val="FFFFFF"/>
                </a:solidFill>
              </a:rPr>
              <a:t>.</a:t>
            </a:r>
            <a:endParaRPr b="1" sz="1500">
              <a:solidFill>
                <a:srgbClr val="1C1F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1521440" y="653796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1850950" y="925475"/>
            <a:ext cx="68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F26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640080" y="1463040"/>
            <a:ext cx="5349240" cy="210312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600200" y="171907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Push contract upgrades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914400" y="237744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Incentivize Month-to-Month customers toward annual plans — the single strongest lever in this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263640" y="1463040"/>
            <a:ext cx="5349240" cy="210312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C65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7223760" y="171907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Intervene on support friction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6537960" y="237744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Trigger proactive outreach or account review after a customer's 2nd support ticket.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40080" y="3840480"/>
            <a:ext cx="5349240" cy="210312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600200" y="409651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Strengthen first-year onboarding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914400" y="475488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Build structured check-ins across months 1–12, where churn risk is highest.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fmla="val 52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6537960" y="4114800"/>
            <a:ext cx="502920" cy="502920"/>
          </a:xfrm>
          <a:prstGeom prst="ellipse">
            <a:avLst/>
          </a:prstGeom>
          <a:solidFill>
            <a:srgbClr val="3E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653796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7223760" y="409651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F26"/>
                </a:solidFill>
                <a:latin typeface="Calibri"/>
                <a:ea typeface="Calibri"/>
                <a:cs typeface="Calibri"/>
                <a:sym typeface="Calibri"/>
              </a:rPr>
              <a:t>Investigate payment-method segments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537960" y="475488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Treat UPI/Debit Card churn as a signal to segment further, not a direct cause to fix.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2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